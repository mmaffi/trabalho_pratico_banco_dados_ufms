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3" r:id="rId3"/>
    <p:sldId id="276" r:id="rId4"/>
    <p:sldId id="277" r:id="rId5"/>
    <p:sldId id="281" r:id="rId6"/>
    <p:sldId id="282" r:id="rId7"/>
    <p:sldId id="280" r:id="rId8"/>
    <p:sldId id="284" r:id="rId9"/>
    <p:sldId id="286" r:id="rId10"/>
    <p:sldId id="287" r:id="rId11"/>
    <p:sldId id="288" r:id="rId12"/>
    <p:sldId id="289" r:id="rId13"/>
    <p:sldId id="290" r:id="rId14"/>
    <p:sldId id="275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8B7"/>
    <a:srgbClr val="1884B4"/>
    <a:srgbClr val="007D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7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468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257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680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16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155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80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66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825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524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682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E8B1A-FC8C-403B-96FC-DEE2851A9203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E8C8B-D6BB-4065-A7F0-40E4A72133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506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943519" y="1386522"/>
            <a:ext cx="64539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>
                <a:solidFill>
                  <a:srgbClr val="0088B7"/>
                </a:solidFill>
                <a:latin typeface="Trebuchet MS" panose="020B0603020202020204" pitchFamily="34" charset="0"/>
              </a:rPr>
              <a:t>Trabalho Banco de Dados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95" y="4791258"/>
            <a:ext cx="1757460" cy="1702401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799" y="-159488"/>
            <a:ext cx="6784103" cy="775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27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Gerenciamento de Pessoas Desempregadas</a:t>
            </a:r>
          </a:p>
        </p:txBody>
      </p:sp>
      <p:sp>
        <p:nvSpPr>
          <p:cNvPr id="7" name="Retângulo 6"/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 b="1">
                <a:solidFill>
                  <a:srgbClr val="0088B7"/>
                </a:solidFill>
                <a:latin typeface="Trebuchet MS" panose="020B0603020202020204" pitchFamily="34" charset="0"/>
              </a:rPr>
              <a:t>Estudo  de caso</a:t>
            </a:r>
            <a:endParaRPr lang="pt-BR" sz="3000">
              <a:solidFill>
                <a:srgbClr val="0088B7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C3B7CA9-AEAB-8550-E956-4670E0892940}"/>
              </a:ext>
            </a:extLst>
          </p:cNvPr>
          <p:cNvSpPr txBox="1"/>
          <p:nvPr/>
        </p:nvSpPr>
        <p:spPr>
          <a:xfrm>
            <a:off x="934478" y="2124335"/>
            <a:ext cx="901282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/>
              <a:t>Um sistema para gestão de pessoas desempregadas será utilizado para registrar informações sobre cidadãos, empresas, vagas de emprego e cursos profissionalizantes.</a:t>
            </a:r>
          </a:p>
          <a:p>
            <a:pPr algn="just"/>
            <a:r>
              <a:rPr lang="pt-BR" sz="1400" dirty="0"/>
              <a:t>As pessoas desempregadas possuem CPF, nome, data de nascimento, telefone, endereço, escolaridade e área de interesse profissional. Algumas pessoas podem possuir experiências profissionais anteriores e cursos já concluídos.</a:t>
            </a:r>
          </a:p>
          <a:p>
            <a:pPr algn="just"/>
            <a:r>
              <a:rPr lang="pt-BR" sz="1400" dirty="0"/>
              <a:t>As empresas cadastradas possuem CNPJ, nome, área de atuação, endereço e telefone. Cada empresa pode disponibilizar uma ou mais vagas de emprego. As vagas possuem código, cargo, salário, carga horária, requisitos e situação (aberta ou encerrada).</a:t>
            </a:r>
          </a:p>
          <a:p>
            <a:pPr algn="just"/>
            <a:r>
              <a:rPr lang="pt-BR" sz="1400" dirty="0"/>
              <a:t>As pessoas desempregadas podem se candidatar a várias vagas, e cada vaga pode receber candidaturas de várias pessoas. O sistema também registra cursos profissionalizantes oferecidos por instituições parceiras. Cada curso possui código, nome, carga horária e área de formação.</a:t>
            </a:r>
          </a:p>
          <a:p>
            <a:pPr algn="just"/>
            <a:r>
              <a:rPr lang="pt-BR" sz="1400" dirty="0"/>
              <a:t>Uma pessoa pode participar de vários cursos, e cada curso pode possuir vários participantes. Além disso, atendentes do sistema poderão acompanhar os candidatos, registrando encaminhamentos para vagas, entrevistas e programas sociais.</a:t>
            </a:r>
          </a:p>
          <a:p>
            <a:pPr algn="just"/>
            <a:r>
              <a:rPr lang="pt-BR" sz="1400" dirty="0"/>
              <a:t>Esse sistema busca auxiliar na inclusão social e no acesso ao mercado de trabalho, contribuindo para os Direitos Humanos por meio da promoção de oportunidades de emprego e qualificação profissional.</a:t>
            </a:r>
          </a:p>
          <a:p>
            <a:pPr algn="just"/>
            <a:endParaRPr lang="pt-BR" sz="1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65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5E1A1-838F-FEFA-B7BF-BDCA6B85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D0FFE89-ADEF-ED3C-2B44-1A6C46757F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1192085-2D82-9E73-0371-8D6796413D05}"/>
              </a:ext>
            </a:extLst>
          </p:cNvPr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30A174-4D5C-4FCD-40FC-B3F0E6BDA1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398BD71-D0F2-6195-7148-885B175A7920}"/>
              </a:ext>
            </a:extLst>
          </p:cNvPr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Possíveis Entidades e Relacionamentos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FB9A627-53E2-1C74-2125-083A4265C9AB}"/>
              </a:ext>
            </a:extLst>
          </p:cNvPr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 b="1">
                <a:solidFill>
                  <a:srgbClr val="0088B7"/>
                </a:solidFill>
                <a:latin typeface="Trebuchet MS" panose="020B0603020202020204" pitchFamily="34" charset="0"/>
              </a:rPr>
              <a:t>Estudo  de caso</a:t>
            </a:r>
            <a:endParaRPr lang="pt-BR" sz="3000">
              <a:solidFill>
                <a:srgbClr val="0088B7"/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67BB57E-D78E-BD78-D664-BBB16F9BB75F}"/>
              </a:ext>
            </a:extLst>
          </p:cNvPr>
          <p:cNvSpPr txBox="1"/>
          <p:nvPr/>
        </p:nvSpPr>
        <p:spPr>
          <a:xfrm>
            <a:off x="868577" y="2555222"/>
            <a:ext cx="476726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/>
              <a:t>POSSÍVEIS ENTIDADES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Pessoa Desempregada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Empresa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Vaga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Curso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Instituição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Atendente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Encaminhamento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FF276FF-28FF-3450-55EF-19BBEC260C3C}"/>
              </a:ext>
            </a:extLst>
          </p:cNvPr>
          <p:cNvSpPr txBox="1"/>
          <p:nvPr/>
        </p:nvSpPr>
        <p:spPr>
          <a:xfrm>
            <a:off x="5932905" y="2555220"/>
            <a:ext cx="476726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/>
              <a:t>POSSÍVEIS RELACIONAMENTOS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Pessoa se candidata à Vaga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Empresa oferece Vaga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Instituição oferece Curso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Pessoa participa de Curso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Atendente realiza Encaminhamento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/>
              <a:t>Pessoa recebe Encaminhamento para Vaga ou Programa Social</a:t>
            </a:r>
          </a:p>
        </p:txBody>
      </p:sp>
    </p:spTree>
    <p:extLst>
      <p:ext uri="{BB962C8B-B14F-4D97-AF65-F5344CB8AC3E}">
        <p14:creationId xmlns:p14="http://schemas.microsoft.com/office/powerpoint/2010/main" val="172450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C012-9D0A-4644-0C18-1AEC157E1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38C121E-5F76-8731-9B05-D4FC673CA4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EB4AE3D-780A-189C-A36A-1F111160226E}"/>
              </a:ext>
            </a:extLst>
          </p:cNvPr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EBA8CDB-E8F6-51BB-1CBA-5652CF83BA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57EC31F-B5FD-2AD2-CC86-FFBD7C705889}"/>
              </a:ext>
            </a:extLst>
          </p:cNvPr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Diagrama Entidade-Relacionamento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BD4D324-53AC-6E12-8B2B-F796040F6760}"/>
              </a:ext>
            </a:extLst>
          </p:cNvPr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>
                <a:solidFill>
                  <a:srgbClr val="0088B7"/>
                </a:solidFill>
                <a:latin typeface="Trebuchet MS" panose="020B0603020202020204" pitchFamily="34" charset="0"/>
              </a:rPr>
              <a:t>Esquema Conceitual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1787FCD-2DFA-45AB-0E10-37799BDB4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563" y="1801388"/>
            <a:ext cx="6661932" cy="4785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202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AA156-BE83-E70D-FA1A-3825260E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9E8F0532-7DF4-0782-9EF6-E2C362AB20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A98456C-8A5F-DD89-62D0-40023BF67F42}"/>
              </a:ext>
            </a:extLst>
          </p:cNvPr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1BE6C54-E310-A673-F265-71EE326DE2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D4B6E10-EFCE-51C8-7FD0-C1F09655FA38}"/>
              </a:ext>
            </a:extLst>
          </p:cNvPr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Esquema Relacional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C8C6289-1380-8314-BC62-3CF1F9745106}"/>
              </a:ext>
            </a:extLst>
          </p:cNvPr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>
                <a:solidFill>
                  <a:srgbClr val="0088B7"/>
                </a:solidFill>
                <a:latin typeface="Trebuchet MS" panose="020B0603020202020204" pitchFamily="34" charset="0"/>
              </a:rPr>
              <a:t>Esquema Lógico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F8662EA-02D1-931D-9E2E-5DFB04536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415" y="1861209"/>
            <a:ext cx="68008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9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3F91-291C-5E54-2337-AD646EF64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8645A05-B32F-EB4C-30E0-514138C4E5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E74C986-5127-8236-D8D3-D90597FC8C0F}"/>
              </a:ext>
            </a:extLst>
          </p:cNvPr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87AB3F-CA74-CD45-C999-DEFB7BEE76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21BD43B-D8B6-CF17-1D86-0A0C35920EAD}"/>
              </a:ext>
            </a:extLst>
          </p:cNvPr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Diagrama Relacional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B474E1C-9659-0A9B-2B83-9FBA27577121}"/>
              </a:ext>
            </a:extLst>
          </p:cNvPr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>
                <a:solidFill>
                  <a:srgbClr val="0088B7"/>
                </a:solidFill>
                <a:latin typeface="Trebuchet MS" panose="020B0603020202020204" pitchFamily="34" charset="0"/>
              </a:rPr>
              <a:t>Esquema Lógico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F1521A3-BCF7-515F-6D1A-F24C24E99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84" y="124460"/>
            <a:ext cx="5287010" cy="660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6F6873C-CCBC-AC8B-15EB-76BB0A86A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74" y="2400251"/>
            <a:ext cx="4766671" cy="336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53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F6085-6F13-D2CF-5D40-CB3377F65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EC93CA2-05BA-6152-C97E-E0D2EEA714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7BF8B15-5FE3-F84B-2668-43A0467C7F24}"/>
              </a:ext>
            </a:extLst>
          </p:cNvPr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BCDB111-CB13-2983-CE0A-C562DD484E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D99D1EA-5C4F-DF1C-67FC-12A78FAFAD71}"/>
              </a:ext>
            </a:extLst>
          </p:cNvPr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Tabela Pessoa_Desempregada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E00067C-0A33-2769-AFA6-D1D3B8AA1EC6}"/>
              </a:ext>
            </a:extLst>
          </p:cNvPr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>
                <a:solidFill>
                  <a:srgbClr val="0088B7"/>
                </a:solidFill>
                <a:latin typeface="Trebuchet MS" panose="020B0603020202020204" pitchFamily="34" charset="0"/>
              </a:rPr>
              <a:t>Domínio de Atributos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D71F78B-8318-9657-3709-DE9E7A392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7617"/>
              </p:ext>
            </p:extLst>
          </p:nvPr>
        </p:nvGraphicFramePr>
        <p:xfrm>
          <a:off x="868576" y="1907663"/>
          <a:ext cx="9617115" cy="4706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3423">
                  <a:extLst>
                    <a:ext uri="{9D8B030D-6E8A-4147-A177-3AD203B41FA5}">
                      <a16:colId xmlns:a16="http://schemas.microsoft.com/office/drawing/2014/main" val="4224621868"/>
                    </a:ext>
                  </a:extLst>
                </a:gridCol>
                <a:gridCol w="1923423">
                  <a:extLst>
                    <a:ext uri="{9D8B030D-6E8A-4147-A177-3AD203B41FA5}">
                      <a16:colId xmlns:a16="http://schemas.microsoft.com/office/drawing/2014/main" val="1496654217"/>
                    </a:ext>
                  </a:extLst>
                </a:gridCol>
                <a:gridCol w="1923423">
                  <a:extLst>
                    <a:ext uri="{9D8B030D-6E8A-4147-A177-3AD203B41FA5}">
                      <a16:colId xmlns:a16="http://schemas.microsoft.com/office/drawing/2014/main" val="465761201"/>
                    </a:ext>
                  </a:extLst>
                </a:gridCol>
                <a:gridCol w="1923423">
                  <a:extLst>
                    <a:ext uri="{9D8B030D-6E8A-4147-A177-3AD203B41FA5}">
                      <a16:colId xmlns:a16="http://schemas.microsoft.com/office/drawing/2014/main" val="2081481363"/>
                    </a:ext>
                  </a:extLst>
                </a:gridCol>
                <a:gridCol w="1923423">
                  <a:extLst>
                    <a:ext uri="{9D8B030D-6E8A-4147-A177-3AD203B41FA5}">
                      <a16:colId xmlns:a16="http://schemas.microsoft.com/office/drawing/2014/main" val="1207752896"/>
                    </a:ext>
                  </a:extLst>
                </a:gridCol>
              </a:tblGrid>
              <a:tr h="66334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Atributo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Tipo de Dados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Restrição Domínio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Restrição de Entidade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Restrição Referencial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842510"/>
                  </a:ext>
                </a:extLst>
              </a:tr>
              <a:tr h="3380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cpf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VARCHAR(14)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Chave Primária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67621393"/>
                  </a:ext>
                </a:extLst>
              </a:tr>
              <a:tr h="3380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nome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VARCHAR(100)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72524398"/>
                  </a:ext>
                </a:extLst>
              </a:tr>
              <a:tr h="3380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data_nascimento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DATE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48771178"/>
                  </a:ext>
                </a:extLst>
              </a:tr>
              <a:tr h="3380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telefone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VARCHAR(20)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30374182"/>
                  </a:ext>
                </a:extLst>
              </a:tr>
              <a:tr h="3380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escolaridade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VARCHAR(50)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253022"/>
                  </a:ext>
                </a:extLst>
              </a:tr>
              <a:tr h="3380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area_interesse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VARCHAR(100)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02930321"/>
                  </a:ext>
                </a:extLst>
              </a:tr>
              <a:tr h="3380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endereco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VARCHAR(150)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53695315"/>
                  </a:ext>
                </a:extLst>
              </a:tr>
              <a:tr h="3380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cidade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VARCHAR(50)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23213838"/>
                  </a:ext>
                </a:extLst>
              </a:tr>
              <a:tr h="3380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bairro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VARCHAR(50)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70928012"/>
                  </a:ext>
                </a:extLst>
              </a:tr>
              <a:tr h="3380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rua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VARCHAR(100)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96684154"/>
                  </a:ext>
                </a:extLst>
              </a:tr>
              <a:tr h="66334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numero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INTEGER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 e maior que zero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23601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013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704D-D3EB-775A-FCEF-C6B03E1ED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9152A2DE-E4AB-7C92-035C-AD8410553F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D26DF2D-E3EE-BF42-2C4D-8CF6DF185A98}"/>
              </a:ext>
            </a:extLst>
          </p:cNvPr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D8F161C-A7F3-9ABE-DA01-3502C01693D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131C5F7-915E-382B-C334-31217F9D17B0}"/>
              </a:ext>
            </a:extLst>
          </p:cNvPr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Tabela Vaga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FFBEEC8-9903-0217-684B-28ED34F84EE5}"/>
              </a:ext>
            </a:extLst>
          </p:cNvPr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>
                <a:solidFill>
                  <a:srgbClr val="0088B7"/>
                </a:solidFill>
                <a:latin typeface="Trebuchet MS" panose="020B0603020202020204" pitchFamily="34" charset="0"/>
              </a:rPr>
              <a:t>Domínio de Atributos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CCA5EA9-BFB6-7057-3818-F14150CCA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464096"/>
              </p:ext>
            </p:extLst>
          </p:nvPr>
        </p:nvGraphicFramePr>
        <p:xfrm>
          <a:off x="868576" y="1861209"/>
          <a:ext cx="9851740" cy="45994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0348">
                  <a:extLst>
                    <a:ext uri="{9D8B030D-6E8A-4147-A177-3AD203B41FA5}">
                      <a16:colId xmlns:a16="http://schemas.microsoft.com/office/drawing/2014/main" val="194410691"/>
                    </a:ext>
                  </a:extLst>
                </a:gridCol>
                <a:gridCol w="1970348">
                  <a:extLst>
                    <a:ext uri="{9D8B030D-6E8A-4147-A177-3AD203B41FA5}">
                      <a16:colId xmlns:a16="http://schemas.microsoft.com/office/drawing/2014/main" val="3477325528"/>
                    </a:ext>
                  </a:extLst>
                </a:gridCol>
                <a:gridCol w="1970348">
                  <a:extLst>
                    <a:ext uri="{9D8B030D-6E8A-4147-A177-3AD203B41FA5}">
                      <a16:colId xmlns:a16="http://schemas.microsoft.com/office/drawing/2014/main" val="2196323106"/>
                    </a:ext>
                  </a:extLst>
                </a:gridCol>
                <a:gridCol w="1970348">
                  <a:extLst>
                    <a:ext uri="{9D8B030D-6E8A-4147-A177-3AD203B41FA5}">
                      <a16:colId xmlns:a16="http://schemas.microsoft.com/office/drawing/2014/main" val="2522968615"/>
                    </a:ext>
                  </a:extLst>
                </a:gridCol>
                <a:gridCol w="1970348">
                  <a:extLst>
                    <a:ext uri="{9D8B030D-6E8A-4147-A177-3AD203B41FA5}">
                      <a16:colId xmlns:a16="http://schemas.microsoft.com/office/drawing/2014/main" val="340435411"/>
                    </a:ext>
                  </a:extLst>
                </a:gridCol>
              </a:tblGrid>
              <a:tr h="51318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Atributo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Tipo de Dados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Restrição Domínio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Restrição de Entidade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Restrição Referencial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12002377"/>
                  </a:ext>
                </a:extLst>
              </a:tr>
              <a:tr h="51318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codigo_vaga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INTEGER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Chave Primária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95224341"/>
                  </a:ext>
                </a:extLst>
              </a:tr>
              <a:tr h="51318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cargo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VARCHAR(100)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3929575"/>
                  </a:ext>
                </a:extLst>
              </a:tr>
              <a:tr h="51318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salario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DECIMAL(10,2)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 e maior que zero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78108564"/>
                  </a:ext>
                </a:extLst>
              </a:tr>
              <a:tr h="51318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carga_horaria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INTEGER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 e maior que zero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11718609"/>
                  </a:ext>
                </a:extLst>
              </a:tr>
              <a:tr h="51318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requisitos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VARCHAR(255)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6962042"/>
                  </a:ext>
                </a:extLst>
              </a:tr>
              <a:tr h="10071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situacao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VARCHAR(20)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 ('ABERTA' ou 'ENCERRADA')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81625098"/>
                  </a:ext>
                </a:extLst>
              </a:tr>
              <a:tr h="51318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cnpj_empresa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VARCHAR(18)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Obrigatório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-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Sim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3472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18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5588-D2AE-9958-0A85-46A9BFF9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A3724B7A-D722-2778-C799-6590B5CCFAD6}"/>
              </a:ext>
            </a:extLst>
          </p:cNvPr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037D76F-2573-E3B1-6BDF-D29B5EA4266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CBABE6A-845C-F78E-D6D9-608B95B1333D}"/>
              </a:ext>
            </a:extLst>
          </p:cNvPr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Scripts de Criação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DF9DBE8-3D37-E123-BDC1-8BC8C32A10F2}"/>
              </a:ext>
            </a:extLst>
          </p:cNvPr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>
                <a:solidFill>
                  <a:srgbClr val="0088B7"/>
                </a:solidFill>
                <a:latin typeface="Trebuchet MS" panose="020B0603020202020204" pitchFamily="34" charset="0"/>
              </a:rPr>
              <a:t>Scripts SQL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CD0F333-1411-23CE-07BC-3BB17F12263B}"/>
              </a:ext>
            </a:extLst>
          </p:cNvPr>
          <p:cNvSpPr txBox="1"/>
          <p:nvPr/>
        </p:nvSpPr>
        <p:spPr>
          <a:xfrm>
            <a:off x="934477" y="1861209"/>
            <a:ext cx="9388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>
                <a:latin typeface="Trebuchet MS" panose="020B0603020202020204" pitchFamily="34" charset="0"/>
              </a:rPr>
              <a:t>Criação do banco de dados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2995C7-FFC1-9184-EA28-10C5B85910A6}"/>
              </a:ext>
            </a:extLst>
          </p:cNvPr>
          <p:cNvSpPr txBox="1"/>
          <p:nvPr/>
        </p:nvSpPr>
        <p:spPr>
          <a:xfrm>
            <a:off x="941418" y="2199763"/>
            <a:ext cx="9388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/>
              <a:t>CREATE DATABASE </a:t>
            </a:r>
            <a:r>
              <a:rPr lang="pt-BR" sz="1400" err="1"/>
              <a:t>gestao_desempregados</a:t>
            </a:r>
            <a:r>
              <a:rPr lang="pt-BR" sz="1400"/>
              <a:t>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93E811-DB65-3229-17BC-D36A1DF4AF04}"/>
              </a:ext>
            </a:extLst>
          </p:cNvPr>
          <p:cNvSpPr txBox="1"/>
          <p:nvPr/>
        </p:nvSpPr>
        <p:spPr>
          <a:xfrm>
            <a:off x="941419" y="2646039"/>
            <a:ext cx="4694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>
                <a:latin typeface="Trebuchet MS" panose="020B0603020202020204" pitchFamily="34" charset="0"/>
              </a:rPr>
              <a:t>Criação da tabela Pessoa_Desempregada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85AF5D-6D97-9397-8999-E01E091F92AA}"/>
              </a:ext>
            </a:extLst>
          </p:cNvPr>
          <p:cNvSpPr txBox="1"/>
          <p:nvPr/>
        </p:nvSpPr>
        <p:spPr>
          <a:xfrm>
            <a:off x="5628898" y="2646039"/>
            <a:ext cx="4694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>
                <a:latin typeface="Trebuchet MS" panose="020B0603020202020204" pitchFamily="34" charset="0"/>
              </a:rPr>
              <a:t>Criação da tabela Vaga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8869C97-CBDE-9387-A692-E6C9E7341242}"/>
              </a:ext>
            </a:extLst>
          </p:cNvPr>
          <p:cNvSpPr txBox="1"/>
          <p:nvPr/>
        </p:nvSpPr>
        <p:spPr>
          <a:xfrm>
            <a:off x="941419" y="2984593"/>
            <a:ext cx="4687480" cy="267765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/>
              <a:t>CREATE TABLE Pessoa_Desempregada (</a:t>
            </a:r>
          </a:p>
          <a:p>
            <a:r>
              <a:rPr lang="pt-BR" sz="1400"/>
              <a:t>    cpf CHAR(11) PRIMARY KEY,</a:t>
            </a:r>
          </a:p>
          <a:p>
            <a:r>
              <a:rPr lang="pt-BR" sz="1400"/>
              <a:t>    nome VARCHAR(100) NOT NULL,</a:t>
            </a:r>
          </a:p>
          <a:p>
            <a:r>
              <a:rPr lang="pt-BR" sz="1400"/>
              <a:t>    data_nascimento DATE NOT NULL,</a:t>
            </a:r>
          </a:p>
          <a:p>
            <a:r>
              <a:rPr lang="pt-BR" sz="1400"/>
              <a:t>    telefone VARCHAR(15),</a:t>
            </a:r>
          </a:p>
          <a:p>
            <a:r>
              <a:rPr lang="pt-BR" sz="1400"/>
              <a:t>    endereco VARCHAR(150),</a:t>
            </a:r>
          </a:p>
          <a:p>
            <a:r>
              <a:rPr lang="pt-BR" sz="1400"/>
              <a:t>    bairro VARCHAR(100),</a:t>
            </a:r>
            <a:br>
              <a:rPr lang="pt-BR" sz="1400"/>
            </a:br>
            <a:r>
              <a:rPr lang="pt-BR" sz="1400"/>
              <a:t>    cidade VARCHAR(100),</a:t>
            </a:r>
          </a:p>
          <a:p>
            <a:r>
              <a:rPr lang="pt-BR" sz="1400"/>
              <a:t>    numero VARCHAR(10),</a:t>
            </a:r>
          </a:p>
          <a:p>
            <a:r>
              <a:rPr lang="pt-BR" sz="1400"/>
              <a:t>    escolaridade VARCHAR(50),</a:t>
            </a:r>
          </a:p>
          <a:p>
            <a:r>
              <a:rPr lang="pt-BR" sz="1400"/>
              <a:t>    area_interesse VARCHAR(100)</a:t>
            </a:r>
          </a:p>
          <a:p>
            <a:r>
              <a:rPr lang="pt-BR" sz="1400"/>
              <a:t>);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8CEF65C-3EDD-54DD-50A9-6C674AFD9D05}"/>
              </a:ext>
            </a:extLst>
          </p:cNvPr>
          <p:cNvSpPr txBox="1"/>
          <p:nvPr/>
        </p:nvSpPr>
        <p:spPr>
          <a:xfrm>
            <a:off x="5632369" y="2984593"/>
            <a:ext cx="4687480" cy="20313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/>
              <a:t>CREATE TABLE Vaga (</a:t>
            </a:r>
          </a:p>
          <a:p>
            <a:r>
              <a:rPr lang="pt-BR" sz="1400"/>
              <a:t>    codigo_vaga SERIAL PRIMARY KEY,</a:t>
            </a:r>
          </a:p>
          <a:p>
            <a:r>
              <a:rPr lang="pt-BR" sz="1400"/>
              <a:t>    cargo VARCHAR(100) NOT NULL,</a:t>
            </a:r>
          </a:p>
          <a:p>
            <a:r>
              <a:rPr lang="pt-BR" sz="1400"/>
              <a:t>    salario DECIMAL(10,2),</a:t>
            </a:r>
          </a:p>
          <a:p>
            <a:r>
              <a:rPr lang="pt-BR" sz="1400"/>
              <a:t>    carga_horaria VARCHAR(50),</a:t>
            </a:r>
          </a:p>
          <a:p>
            <a:r>
              <a:rPr lang="pt-BR" sz="1400"/>
              <a:t>    requisitos TEXT,</a:t>
            </a:r>
          </a:p>
          <a:p>
            <a:r>
              <a:rPr lang="pt-BR" sz="1400"/>
              <a:t>    situacao VARCHAR(20) NOT NULL,</a:t>
            </a:r>
          </a:p>
          <a:p>
            <a:r>
              <a:rPr lang="pt-BR" sz="1400"/>
              <a:t>    cnpj_empresa CHAR(14) NOT NULL</a:t>
            </a:r>
          </a:p>
          <a:p>
            <a:r>
              <a:rPr lang="pt-BR" sz="140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8786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F09DB-97B1-8A7E-A774-34AE11D1C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5253F66-25C6-8E91-7D06-5E0F98B21654}"/>
              </a:ext>
            </a:extLst>
          </p:cNvPr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E146BC3-51D6-BFB9-BD7F-3FE46D2AF9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8674B35-26A8-A9A6-CBFD-5C862E94A12F}"/>
              </a:ext>
            </a:extLst>
          </p:cNvPr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Scripts de Povoamento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73CEA67-DC00-6042-EF40-639DEA2827E7}"/>
              </a:ext>
            </a:extLst>
          </p:cNvPr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>
                <a:solidFill>
                  <a:srgbClr val="0088B7"/>
                </a:solidFill>
                <a:latin typeface="Trebuchet MS" panose="020B0603020202020204" pitchFamily="34" charset="0"/>
              </a:rPr>
              <a:t>Scripts SQL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5378AAB-CDC6-79C2-AFA4-7135C0AC0535}"/>
              </a:ext>
            </a:extLst>
          </p:cNvPr>
          <p:cNvSpPr txBox="1"/>
          <p:nvPr/>
        </p:nvSpPr>
        <p:spPr>
          <a:xfrm>
            <a:off x="941419" y="2005102"/>
            <a:ext cx="4694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>
                <a:latin typeface="Trebuchet MS" panose="020B0603020202020204" pitchFamily="34" charset="0"/>
              </a:rPr>
              <a:t>Povoamento da tabela Pessoa_Desempregada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B219493-EECA-E112-288B-0DE06C7AEF31}"/>
              </a:ext>
            </a:extLst>
          </p:cNvPr>
          <p:cNvSpPr txBox="1"/>
          <p:nvPr/>
        </p:nvSpPr>
        <p:spPr>
          <a:xfrm>
            <a:off x="5628898" y="2005102"/>
            <a:ext cx="4694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>
                <a:latin typeface="Trebuchet MS" panose="020B0603020202020204" pitchFamily="34" charset="0"/>
              </a:rPr>
              <a:t>Povoamento da tabela Vaga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962FD9-670F-DD28-DBDE-5EBD88059FE5}"/>
              </a:ext>
            </a:extLst>
          </p:cNvPr>
          <p:cNvSpPr txBox="1"/>
          <p:nvPr/>
        </p:nvSpPr>
        <p:spPr>
          <a:xfrm>
            <a:off x="941419" y="2343656"/>
            <a:ext cx="4687480" cy="35394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/>
              <a:t>INSERT INTO Pessoa_Desempregada ( </a:t>
            </a:r>
          </a:p>
          <a:p>
            <a:r>
              <a:rPr lang="pt-BR" sz="1400"/>
              <a:t>    cpf, nome, data_nascimento, telefone, endereco, escolaridade, area_interesse</a:t>
            </a:r>
          </a:p>
          <a:p>
            <a:r>
              <a:rPr lang="pt-BR" sz="1400"/>
              <a:t>)</a:t>
            </a:r>
          </a:p>
          <a:p>
            <a:r>
              <a:rPr lang="pt-BR" sz="1400"/>
              <a:t>VALUES</a:t>
            </a:r>
          </a:p>
          <a:p>
            <a:r>
              <a:rPr lang="pt-BR" sz="1400"/>
              <a:t>( '11111111111', 'Carlos Eduardo Silva', '1998-05-12', '11987654321', 'Rua das Flores, 120', 'SUPERIOR', 'Tecnologia da Informacao' ),</a:t>
            </a:r>
          </a:p>
          <a:p>
            <a:r>
              <a:rPr lang="pt-BR" sz="1400"/>
              <a:t>( '33333333333', 'Joao Pedro Santos', '2000-03-08', '11977776666', 'Rua Azul, 89', 'TECNICO', '</a:t>
            </a:r>
            <a:r>
              <a:rPr lang="pt-BR" sz="1400" err="1"/>
              <a:t>Logistica</a:t>
            </a:r>
            <a:r>
              <a:rPr lang="pt-BR" sz="1400"/>
              <a:t>' ),</a:t>
            </a:r>
          </a:p>
          <a:p>
            <a:r>
              <a:rPr lang="pt-BR" sz="1400"/>
              <a:t>( '55555555555', 'Lucas Martins', '1999-09-30', '11955554444', 'Rua Bela Vista, 77', 'SUPERIOR', 'Desenvolvimento Web' ),</a:t>
            </a:r>
          </a:p>
          <a:p>
            <a:r>
              <a:rPr lang="pt-BR" sz="1400"/>
              <a:t>( '10101010101', 'Juliana Martins', '1998-09-14', '11988889999', 'Av. Liberdade, 1200', 'POS_GRADUACAO', '</a:t>
            </a:r>
            <a:r>
              <a:rPr lang="pt-BR" sz="1400" err="1"/>
              <a:t>Gestao</a:t>
            </a:r>
            <a:r>
              <a:rPr lang="pt-BR" sz="1400"/>
              <a:t> de Pessoas' );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D52C62-04FB-63DC-1E67-CFA5A3388FEF}"/>
              </a:ext>
            </a:extLst>
          </p:cNvPr>
          <p:cNvSpPr txBox="1"/>
          <p:nvPr/>
        </p:nvSpPr>
        <p:spPr>
          <a:xfrm>
            <a:off x="5632369" y="2343656"/>
            <a:ext cx="4687480" cy="31085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/>
              <a:t>INSERT INTO Vaga (</a:t>
            </a:r>
          </a:p>
          <a:p>
            <a:r>
              <a:rPr lang="pt-BR" sz="1400" dirty="0"/>
              <a:t>    cargo, salario, carga_horaria, requisitos, situacao, cnpj_empresa</a:t>
            </a:r>
          </a:p>
          <a:p>
            <a:r>
              <a:rPr lang="pt-BR" sz="1400" dirty="0"/>
              <a:t>)</a:t>
            </a:r>
          </a:p>
          <a:p>
            <a:r>
              <a:rPr lang="pt-BR" sz="1400" dirty="0"/>
              <a:t>VALUES</a:t>
            </a:r>
          </a:p>
          <a:p>
            <a:r>
              <a:rPr lang="pt-BR" sz="1400" dirty="0"/>
              <a:t>( 'Desenvolvedor Front-</a:t>
            </a:r>
            <a:r>
              <a:rPr lang="pt-BR" sz="1400" dirty="0" err="1"/>
              <a:t>End</a:t>
            </a:r>
            <a:r>
              <a:rPr lang="pt-BR" sz="1400" dirty="0"/>
              <a:t>', 3500.00, '40 horas semanais', 'Conhecimento em React', 'ABERTA', '12345678000101' ),</a:t>
            </a:r>
          </a:p>
          <a:p>
            <a:r>
              <a:rPr lang="pt-BR" sz="1400" dirty="0"/>
              <a:t>( 'Auxiliar de Logistica', 2000.00, '44 horas semanais', 'Experiencia em estoque', 'ENCERRADA', '45678912000155' ),</a:t>
            </a:r>
          </a:p>
          <a:p>
            <a:r>
              <a:rPr lang="pt-BR" sz="1400" dirty="0"/>
              <a:t>( 'Operador de Caixa', 1800.00, '44 horas semanais', 'Atendimento ao cliente', 'ABERTA', '85274196000122' ),</a:t>
            </a:r>
          </a:p>
          <a:p>
            <a:r>
              <a:rPr lang="pt-BR" sz="1400" dirty="0"/>
              <a:t>( 'Vendedor Interno', 2100.00, '44 horas semanais', 'Experiencia com vendas', 'ABERTA', '85274196000122' );</a:t>
            </a:r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922472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0845-9AF5-860E-5C48-4947B7F93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C06BE8E-CD84-C8C5-9A5B-F21B6A331B23}"/>
              </a:ext>
            </a:extLst>
          </p:cNvPr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C29502-F362-FF57-27CA-4E2CF14E45C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73FCDE7-EAA6-DACD-48C0-6525A43D0C25}"/>
              </a:ext>
            </a:extLst>
          </p:cNvPr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Scripts de Operações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37F2E53-34FD-97C0-54D3-F252D397066A}"/>
              </a:ext>
            </a:extLst>
          </p:cNvPr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>
                <a:solidFill>
                  <a:srgbClr val="0088B7"/>
                </a:solidFill>
                <a:latin typeface="Trebuchet MS" panose="020B0603020202020204" pitchFamily="34" charset="0"/>
              </a:rPr>
              <a:t>Scripts SQL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7C02023-DAF6-5BC9-F953-0210706F9447}"/>
              </a:ext>
            </a:extLst>
          </p:cNvPr>
          <p:cNvSpPr txBox="1"/>
          <p:nvPr/>
        </p:nvSpPr>
        <p:spPr>
          <a:xfrm>
            <a:off x="941419" y="2005102"/>
            <a:ext cx="4694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>
                <a:latin typeface="Trebuchet MS" panose="020B0603020202020204" pitchFamily="34" charset="0"/>
              </a:rPr>
              <a:t>Operação da tabela Pessoa_Desempregada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C173608-BD10-3C68-7297-B4F8E5F96388}"/>
              </a:ext>
            </a:extLst>
          </p:cNvPr>
          <p:cNvSpPr txBox="1"/>
          <p:nvPr/>
        </p:nvSpPr>
        <p:spPr>
          <a:xfrm>
            <a:off x="5628898" y="2005102"/>
            <a:ext cx="4694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>
                <a:latin typeface="Trebuchet MS" panose="020B0603020202020204" pitchFamily="34" charset="0"/>
              </a:rPr>
              <a:t>Operação da tabela Vaga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CC8AE51-A65C-D22A-2D64-FFE21714D845}"/>
              </a:ext>
            </a:extLst>
          </p:cNvPr>
          <p:cNvSpPr txBox="1"/>
          <p:nvPr/>
        </p:nvSpPr>
        <p:spPr>
          <a:xfrm>
            <a:off x="941419" y="2343656"/>
            <a:ext cx="4687480" cy="73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/>
              <a:t>UPDATE Pessoa_Desempregada</a:t>
            </a:r>
          </a:p>
          <a:p>
            <a:r>
              <a:rPr lang="pt-BR" sz="1400"/>
              <a:t>SET telefone = '11999990000'</a:t>
            </a:r>
          </a:p>
          <a:p>
            <a:r>
              <a:rPr lang="pt-BR" sz="1400"/>
              <a:t>WHERE cpf = '11111111111';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6FE88DE-B8AD-F8F3-9202-E3EABD1CBD71}"/>
              </a:ext>
            </a:extLst>
          </p:cNvPr>
          <p:cNvSpPr txBox="1"/>
          <p:nvPr/>
        </p:nvSpPr>
        <p:spPr>
          <a:xfrm>
            <a:off x="5632369" y="2343656"/>
            <a:ext cx="4687480" cy="160043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/>
              <a:t>-- Remover candidatura vinculada a vaga</a:t>
            </a:r>
          </a:p>
          <a:p>
            <a:r>
              <a:rPr lang="pt-BR" sz="1400"/>
              <a:t>DELETE FROM Candidatura</a:t>
            </a:r>
          </a:p>
          <a:p>
            <a:r>
              <a:rPr lang="pt-BR" sz="1400"/>
              <a:t>WHERE codigo_vaga = 7;</a:t>
            </a:r>
          </a:p>
          <a:p>
            <a:endParaRPr lang="pt-BR" sz="1400"/>
          </a:p>
          <a:p>
            <a:r>
              <a:rPr lang="pt-BR" sz="1400"/>
              <a:t>-- Remover vaga encerrada</a:t>
            </a:r>
          </a:p>
          <a:p>
            <a:r>
              <a:rPr lang="pt-BR" sz="1400"/>
              <a:t>DELETE FROM Vaga</a:t>
            </a:r>
          </a:p>
          <a:p>
            <a:r>
              <a:rPr lang="pt-BR" sz="1400"/>
              <a:t>WHERE codigo_vaga = 7;</a:t>
            </a:r>
          </a:p>
        </p:txBody>
      </p:sp>
    </p:spTree>
    <p:extLst>
      <p:ext uri="{BB962C8B-B14F-4D97-AF65-F5344CB8AC3E}">
        <p14:creationId xmlns:p14="http://schemas.microsoft.com/office/powerpoint/2010/main" val="4171888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784F1-0482-A401-CB69-C235AE539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8D551E1-4181-D4CA-16C1-5B20D05DB500}"/>
              </a:ext>
            </a:extLst>
          </p:cNvPr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B05A40-583B-AE74-E9E9-E320069810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8207E1A-9C8A-D9C0-498B-26B9FE5E7E80}"/>
              </a:ext>
            </a:extLst>
          </p:cNvPr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Scripts de Consultas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4DBCB88-27A2-7EAA-A83B-49E5ECB00736}"/>
              </a:ext>
            </a:extLst>
          </p:cNvPr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>
                <a:solidFill>
                  <a:srgbClr val="0088B7"/>
                </a:solidFill>
                <a:latin typeface="Trebuchet MS" panose="020B0603020202020204" pitchFamily="34" charset="0"/>
              </a:rPr>
              <a:t>Scripts SQL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F91EBF7-FEF1-092E-2C69-8BA77C632826}"/>
              </a:ext>
            </a:extLst>
          </p:cNvPr>
          <p:cNvSpPr txBox="1"/>
          <p:nvPr/>
        </p:nvSpPr>
        <p:spPr>
          <a:xfrm>
            <a:off x="941419" y="2005102"/>
            <a:ext cx="4694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>
                <a:latin typeface="Trebuchet MS" panose="020B0603020202020204" pitchFamily="34" charset="0"/>
              </a:rPr>
              <a:t>Consulta da tabela Pessoa_Desempregada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6EC74B-45FB-9F24-C219-130765EAFAEA}"/>
              </a:ext>
            </a:extLst>
          </p:cNvPr>
          <p:cNvSpPr txBox="1"/>
          <p:nvPr/>
        </p:nvSpPr>
        <p:spPr>
          <a:xfrm>
            <a:off x="5628898" y="2005102"/>
            <a:ext cx="4694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>
                <a:latin typeface="Trebuchet MS" panose="020B0603020202020204" pitchFamily="34" charset="0"/>
              </a:rPr>
              <a:t>Consulta da tabela Vaga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28714F1-1A78-AD3D-7573-BDE4174514FC}"/>
              </a:ext>
            </a:extLst>
          </p:cNvPr>
          <p:cNvSpPr txBox="1"/>
          <p:nvPr/>
        </p:nvSpPr>
        <p:spPr>
          <a:xfrm>
            <a:off x="941419" y="2343656"/>
            <a:ext cx="4687480" cy="73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/>
              <a:t>SELECT nome, escolaridade</a:t>
            </a:r>
          </a:p>
          <a:p>
            <a:r>
              <a:rPr lang="pt-BR" sz="1400"/>
              <a:t>FROM Pessoa_Desempregada</a:t>
            </a:r>
          </a:p>
          <a:p>
            <a:r>
              <a:rPr lang="pt-BR" sz="1400"/>
              <a:t>WHERE escolaridade IN ('MEDIO', 'SUPERIOR');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B39DB00-86F4-054B-3F21-33488BD49216}"/>
              </a:ext>
            </a:extLst>
          </p:cNvPr>
          <p:cNvSpPr txBox="1"/>
          <p:nvPr/>
        </p:nvSpPr>
        <p:spPr>
          <a:xfrm>
            <a:off x="5632369" y="2343656"/>
            <a:ext cx="4687480" cy="160043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/>
              <a:t>SELECT</a:t>
            </a:r>
          </a:p>
          <a:p>
            <a:r>
              <a:rPr lang="pt-BR" sz="1400"/>
              <a:t>    Vaga.cargo,</a:t>
            </a:r>
          </a:p>
          <a:p>
            <a:r>
              <a:rPr lang="pt-BR" sz="1400"/>
              <a:t>    Vaga.salario,</a:t>
            </a:r>
          </a:p>
          <a:p>
            <a:r>
              <a:rPr lang="pt-BR" sz="1400"/>
              <a:t>    Empresa.nome AS empresa</a:t>
            </a:r>
          </a:p>
          <a:p>
            <a:r>
              <a:rPr lang="pt-BR" sz="1400"/>
              <a:t>FROM Vaga</a:t>
            </a:r>
          </a:p>
          <a:p>
            <a:r>
              <a:rPr lang="pt-BR" sz="1400"/>
              <a:t>INNER JOIN Empresa</a:t>
            </a:r>
          </a:p>
          <a:p>
            <a:r>
              <a:rPr lang="pt-BR" sz="1400"/>
              <a:t>ON Vaga.cnpj_empresa = Empresa.cnpj;</a:t>
            </a:r>
          </a:p>
        </p:txBody>
      </p:sp>
    </p:spTree>
    <p:extLst>
      <p:ext uri="{BB962C8B-B14F-4D97-AF65-F5344CB8AC3E}">
        <p14:creationId xmlns:p14="http://schemas.microsoft.com/office/powerpoint/2010/main" val="3142257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1E5A-9635-6E4D-33C0-FEAE48CB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711D378-4FF9-5582-8D52-12BBAEE54B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09905D6-455A-3E13-DAF3-BE890A1BB0F8}"/>
              </a:ext>
            </a:extLst>
          </p:cNvPr>
          <p:cNvSpPr/>
          <p:nvPr/>
        </p:nvSpPr>
        <p:spPr>
          <a:xfrm>
            <a:off x="10997233" y="0"/>
            <a:ext cx="917848" cy="5110445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8C36EBF-D2E4-9395-168D-59953EB030F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6" r="13888" b="10689"/>
          <a:stretch/>
        </p:blipFill>
        <p:spPr>
          <a:xfrm>
            <a:off x="10997233" y="5535825"/>
            <a:ext cx="958428" cy="11615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2274653-C4B1-0535-66E8-2BBAE5DE9157}"/>
              </a:ext>
            </a:extLst>
          </p:cNvPr>
          <p:cNvSpPr txBox="1"/>
          <p:nvPr/>
        </p:nvSpPr>
        <p:spPr>
          <a:xfrm>
            <a:off x="934478" y="1307211"/>
            <a:ext cx="7128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>
                <a:latin typeface="Trebuchet MS" panose="020B0603020202020204" pitchFamily="34" charset="0"/>
              </a:rPr>
              <a:t>Gerenciamento de Pessoas Desempregadas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9651929-144A-2B12-D519-4754D7F62C78}"/>
              </a:ext>
            </a:extLst>
          </p:cNvPr>
          <p:cNvSpPr/>
          <p:nvPr/>
        </p:nvSpPr>
        <p:spPr>
          <a:xfrm>
            <a:off x="868576" y="753213"/>
            <a:ext cx="47672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 b="1" dirty="0">
                <a:solidFill>
                  <a:srgbClr val="0088B7"/>
                </a:solidFill>
                <a:latin typeface="Trebuchet MS" panose="020B0603020202020204" pitchFamily="34" charset="0"/>
              </a:rPr>
              <a:t>Conclusão</a:t>
            </a:r>
            <a:endParaRPr lang="pt-BR" sz="3000" dirty="0">
              <a:solidFill>
                <a:srgbClr val="0088B7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C4A6F28-9D80-A212-7EBB-6C9AED93FC60}"/>
              </a:ext>
            </a:extLst>
          </p:cNvPr>
          <p:cNvSpPr txBox="1"/>
          <p:nvPr/>
        </p:nvSpPr>
        <p:spPr>
          <a:xfrm>
            <a:off x="934478" y="2124335"/>
            <a:ext cx="901282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/>
              <a:t>Ao longo do desenvolvimento deste trabalho foi possível aplicar, na prática, os principais conceitos relacionados à modelagem e implementação de bancos de dados relacionais. O projeto “Sistema para Gestão de Pessoas Desempregadas” permitiu compreender melhor as etapas de análise de requisitos, criação do Modelo Entidade-Relacionamento, definição do modelo relacional e implementação do banco de dados utilizando SQL no PostgreSQL.</a:t>
            </a:r>
          </a:p>
          <a:p>
            <a:pPr algn="just"/>
            <a:r>
              <a:rPr lang="pt-BR" sz="1400" dirty="0"/>
              <a:t>Durante o desenvolvimento foram utilizados conceitos importantes como entidades, atributos, relacionamentos, chaves primárias, chaves estrangeiras, tabelas associativas, integridade referencial e </a:t>
            </a:r>
            <a:r>
              <a:rPr lang="pt-BR" sz="1400" dirty="0" err="1"/>
              <a:t>constraints</a:t>
            </a:r>
            <a:r>
              <a:rPr lang="pt-BR" sz="1400" dirty="0"/>
              <a:t>. Além disso, também foi possível desenvolver consultas SQL utilizando comandos como SELECT, WHERE, JOIN, GROUP BY, ORDER BY, COUNT, HAVING, UNION e </a:t>
            </a:r>
            <a:r>
              <a:rPr lang="pt-BR" sz="1400" dirty="0" err="1"/>
              <a:t>subconsultas</a:t>
            </a:r>
            <a:r>
              <a:rPr lang="pt-BR" sz="1400" dirty="0"/>
              <a:t> para emissão de relatórios e manipulação de dados.</a:t>
            </a:r>
          </a:p>
          <a:p>
            <a:pPr algn="just"/>
            <a:r>
              <a:rPr lang="pt-BR" sz="1400" dirty="0"/>
              <a:t>Dessa forma, conclui-se que o trabalho atingiu seus objetivos, proporcionando aprendizado técnico e prático sobre banco de dados relacionais, modelagem conceitual e desenvolvimento de scripts SQL aplicados a um cenário realista e socialmente relevante.</a:t>
            </a:r>
          </a:p>
        </p:txBody>
      </p:sp>
    </p:spTree>
    <p:extLst>
      <p:ext uri="{BB962C8B-B14F-4D97-AF65-F5344CB8AC3E}">
        <p14:creationId xmlns:p14="http://schemas.microsoft.com/office/powerpoint/2010/main" val="1510557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8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106" y="2623286"/>
            <a:ext cx="1647786" cy="1611427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0" y="5978763"/>
            <a:ext cx="1219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>
                <a:solidFill>
                  <a:schemeClr val="bg1"/>
                </a:solidFill>
                <a:latin typeface="Trebuchet MS" panose="020B0603020202020204" pitchFamily="34" charset="0"/>
              </a:rPr>
              <a:t>www.ufms.br</a:t>
            </a:r>
          </a:p>
        </p:txBody>
      </p:sp>
    </p:spTree>
    <p:extLst>
      <p:ext uri="{BB962C8B-B14F-4D97-AF65-F5344CB8AC3E}">
        <p14:creationId xmlns:p14="http://schemas.microsoft.com/office/powerpoint/2010/main" val="32029834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1186</Words>
  <Application>Microsoft Office PowerPoint</Application>
  <PresentationFormat>Widescreen</PresentationFormat>
  <Paragraphs>216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Trebuchet MS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Maira Sonia Camacho</dc:creator>
  <cp:lastModifiedBy>MMaffi</cp:lastModifiedBy>
  <cp:revision>29</cp:revision>
  <dcterms:created xsi:type="dcterms:W3CDTF">2020-10-09T11:56:42Z</dcterms:created>
  <dcterms:modified xsi:type="dcterms:W3CDTF">2026-05-29T17:29:58Z</dcterms:modified>
</cp:coreProperties>
</file>